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Microservices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Login</c:v>
                  </c:pt>
                  <c:pt idx="1">
                    <c:v>Submit Laporan</c:v>
                  </c:pt>
                  <c:pt idx="2">
                    <c:v>Get Penanganan</c:v>
                  </c:pt>
                  <c:pt idx="3">
                    <c:v>Master Kekerasan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47813</c:v>
                </c:pt>
                <c:pt idx="1">
                  <c:v>7.9</c:v>
                </c:pt>
                <c:pt idx="2">
                  <c:v>903.9</c:v>
                </c:pt>
                <c:pt idx="3">
                  <c:v>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Monolitik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Login</c:v>
                  </c:pt>
                  <c:pt idx="1">
                    <c:v>Submit Laporan</c:v>
                  </c:pt>
                  <c:pt idx="2">
                    <c:v>Get Penanganan</c:v>
                  </c:pt>
                  <c:pt idx="3">
                    <c:v>Master Kekerasan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48554.6</c:v>
                </c:pt>
                <c:pt idx="1">
                  <c:v>3392.2</c:v>
                </c:pt>
                <c:pt idx="2">
                  <c:v>344.6</c:v>
                </c:pt>
                <c:pt idx="3">
                  <c:v>255.3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C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presentasi dengan menjelaskan bahwa penelitian ini membangun SIPEKA untuk mengintegrasikan pelaporan masyarakat dan penanganan kasus di DPPPA Kota Kendari.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permasalahan praktis yang ditemukan dari proses DPPPA: pencatatan ganda, sulitnya pemantauan, dan koordinasi yang belum terintegrasi.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penelitian ini memiliki tiga fokus: membangun sistem, menerapkan microservices, dan melakukan evaluasi berbasis pengujian.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secara singkat alur lama dengan alur baru. Fokuskan narasi pada pekerjaan berulang dan manfaat alur digital yang terintegrasi.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operasional dari sudut pandang pengguna. NLP ditempatkan sebelum submit agar pelapor tetap dapat mengoreksi hasil analisis.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pemisahan dilakukan berdasarkan domain bisnis: Report Service menangani laporan, sedangkan Case Service menangani proses kasus.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NLP tidak mengambil keputusan dan tidak langsung memasukkan data sebagai data resmi. Pelapor tetap melakukan verifikasi.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Service menyimpan perubahan kasus lalu mengirim event ke RabbitMQ. Report Service mengambil pesan dan memperbarui status laporan.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Tampilkan screenshot aplikasi pada slide ini jika tersedia. Narasi fokus pada pembagian pengalaman pengguna dan teknologi inti yang digunakan.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setiap jenis pengujian menjawab pertanyaan berbeda: performa, perilaku saat service terganggu, dan penerimaan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hasil secara deskriptif dan jangan menyimpulkan bahwa microservices selalu lebih cepat. Pada Get Penanganan, monolitik justru lebih cepat.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slide ini sebagai interpretasi utama hasil load testing. Sertakan batasan bahwa setiap skenario dijalankan satu kali dan total sumber daya kedua arsitektur tidak sepenuhnya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pengujian menghentikan Report Service, bukan RabbitMQ. Dua pesan terlihat pada Ready dan menjadi nol setelah consumer kembali aktif.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UAT menunjukkan penerimaan positif. Sampaikan juga secara jujur bahwa fitur NLP masih perlu dievaluasi lebih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slide ini untuk menjawab langsung revisi dosen. Jelaskan bahwa revisi diterapkan pada rancangan, implementasi, dan pengujian.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Simpulkan dengan menjawab tujuan penelitian satu per satu. Tekankan bahwa hasil performa berlaku pada konfigurasi dan skenario yang diuji.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keterbatasan secara terbuka. Saran pengembangan tidak boleh disampaikan seolah-olah sudah menjadi fitur pada penelitian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presentasi dan persilakan penguji menyampaikan pertanyaan.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F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HASIL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SIPEKA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Pelaporan dan Manajemen Kasus Kekerasan terhadap Perempuan dan Anak Berbasis Web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246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7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Menggunakan Arsitektur Microservices • Studi Kasus: DPPPA Kota Kendari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91440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1B4965"/>
          </a:solidFill>
          <a:ln w="12700">
            <a:solidFill>
              <a:srgbClr val="1B496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1417320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28432" y="152704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81160" y="2057400"/>
            <a:ext cx="0" cy="411480"/>
          </a:xfrm>
          <a:prstGeom prst="line">
            <a:avLst/>
          </a:prstGeom>
          <a:noFill/>
          <a:ln w="25400">
            <a:solidFill>
              <a:srgbClr val="BFE8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55280" y="2542032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28432" y="26517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+ Formulir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81160" y="3154680"/>
            <a:ext cx="0" cy="411480"/>
          </a:xfrm>
          <a:prstGeom prst="line">
            <a:avLst/>
          </a:prstGeom>
          <a:noFill/>
          <a:ln w="25400">
            <a:solidFill>
              <a:srgbClr val="BFE8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955280" y="3639312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8432" y="374904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81160" y="4251960"/>
            <a:ext cx="0" cy="393192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4709160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28432" y="48188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 → Case Service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760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7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Muh. Afdal Ziqri Ramadhan  •  E1E122065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0990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C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Jurusan Informatika • Fakultas Teknik • Universitas Halu Oleo • 2026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8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 PENELITIAN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utama berada pada proses yang terpisah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874520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97864" y="183794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berulang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21992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dicatat pada buku registrasi dan Microsoft Excel, kemudian diinput ulang ke sistem lain.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74520"/>
            <a:ext cx="256032" cy="25603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83794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Sulit dipantau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21992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 belum memiliki sarana untuk memantau perkembangan laporan secara mandiri.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1691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57032" y="1874520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183794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Koordinasi lambat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221992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Pelaporan, assessment, intervensi, dan penyelesaian kasus belum berada dalam alur digital yang sama.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proses manual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4805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Pekerjaan administrasi bertambah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8737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data tidak sinkron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2669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laporan tidak transparan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98080" y="416052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DE9E4"/>
          </a:solidFill>
          <a:ln w="12700">
            <a:solidFill>
              <a:srgbClr val="FDE9E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54112" y="4416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sistem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480060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alur terintegrasi dari laporan sampai penyelesaian kasus.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Penelitian menjawab tiga kebutuhan utama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218688" cy="3063240"/>
          </a:xfrm>
          <a:prstGeom prst="roundRect">
            <a:avLst>
              <a:gd name="adj" fmla="val 2388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Bangun sistem web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2900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Mengintegrasikan pelaporan masyarakat dan manajemen kasus dalam satu sistem.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44568" y="1828800"/>
            <a:ext cx="3218688" cy="3063240"/>
          </a:xfrm>
          <a:prstGeom prst="roundRect">
            <a:avLst>
              <a:gd name="adj" fmla="val 2388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084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9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Pisahkan layanan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342900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Menerapkan Report Service dan Case Service sesuai tanggung jawab bisnis.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11896" y="1828800"/>
            <a:ext cx="3218688" cy="3063240"/>
          </a:xfrm>
          <a:prstGeom prst="roundRect">
            <a:avLst>
              <a:gd name="adj" fmla="val 2388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0496" y="2084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900" dirty="0"/>
          </a:p>
        </p:txBody>
      </p:sp>
      <p:sp>
        <p:nvSpPr>
          <p:cNvPr id="15" name="Text 13"/>
          <p:cNvSpPr txBox="1"/>
          <p:nvPr/>
        </p:nvSpPr>
        <p:spPr>
          <a:xfrm>
            <a:off x="8540496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hasilnya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540496" y="342900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Mengukur performa, ketahanan komunikasi layanan, dan penerimaan pengguna.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IV • ANALISIS SISTEM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sistem berubah dari pencatatan manual menjadi alur digital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berjalan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21671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masuk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2359152"/>
            <a:ext cx="27432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057400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21671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Buku registrasi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9080" y="2359152"/>
            <a:ext cx="27432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34840" y="2057400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7992" y="21671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Excel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2359152"/>
            <a:ext cx="27432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" y="2926080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DE9E4"/>
          </a:solidFill>
          <a:ln w="12700">
            <a:solidFill>
              <a:srgbClr val="FDE9E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303580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ulang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3227832"/>
            <a:ext cx="27432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06040" y="2926080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79192" y="303580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Simfoni PPA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3977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DE9E4"/>
          </a:solidFill>
          <a:ln w="12700">
            <a:solidFill>
              <a:srgbClr val="FDE9E4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2611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Masalah: input berulang, data tidak sinkron, status sulit dipantau.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yang diusulkan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0" y="205740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3952" y="2167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2359152"/>
            <a:ext cx="18288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54112" y="205740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27264" y="2167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+ verifikasi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51392" y="2359152"/>
            <a:ext cx="18288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07424" y="205740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80576" y="2167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Registrasi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204704" y="2359152"/>
            <a:ext cx="18288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460736" y="205740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33888" y="2167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558016" y="2359152"/>
            <a:ext cx="18288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00800" y="297180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73952" y="30815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Intervensi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0" y="3273552"/>
            <a:ext cx="18288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754112" y="297180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27264" y="30815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851392" y="3273552"/>
            <a:ext cx="18288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107424" y="2971800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80576" y="30815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Terminasi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0" y="39776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29400" y="4261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Solusi: satu alur terintegrasi dan status dapat dipantau.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IV • ALUR SISTEM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alur menghubungkan pelapor, petugas, dan layanan backend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0195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Cerita pelapor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03320" y="2121408"/>
            <a:ext cx="68580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0560" y="1737360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5152" y="190195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NLP mengusulkan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52360" y="2121408"/>
            <a:ext cx="68580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0" y="1737360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190195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Pelapor verifikasi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10928" y="2505456"/>
            <a:ext cx="0" cy="466344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" y="3246120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41071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Laporan dikirim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03320" y="3630168"/>
            <a:ext cx="68580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3246120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45152" y="341071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Petugas menangani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52360" y="3630168"/>
            <a:ext cx="68580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3246120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94192" y="341071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Status dipantau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507492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25880" y="526694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akhir: laporan tercatat, kasus dikelola, dan pelapor memperoleh informasi status.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IV • ARSITEKTUR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memisahkan tanggung jawab berdasarkan domain bisnis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194560" cy="3474720"/>
          </a:xfrm>
          <a:prstGeom prst="roundRect">
            <a:avLst>
              <a:gd name="adj" fmla="val 3333"/>
            </a:avLst>
          </a:prstGeom>
          <a:solidFill>
            <a:srgbClr val="12304A"/>
          </a:solidFill>
          <a:ln w="12700">
            <a:solidFill>
              <a:srgbClr val="12304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7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 • Petugas • Super Admin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3566160"/>
            <a:ext cx="96012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23360" y="1828800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715000" y="2743200"/>
            <a:ext cx="777240" cy="-320040"/>
          </a:xfrm>
          <a:prstGeom prst="line">
            <a:avLst/>
          </a:prstGeom>
          <a:noFill/>
          <a:ln w="2159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15000" y="4434840"/>
            <a:ext cx="777240" cy="274320"/>
          </a:xfrm>
          <a:prstGeom prst="line">
            <a:avLst/>
          </a:prstGeom>
          <a:noFill/>
          <a:ln w="2159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29400" y="160020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93992" y="1783080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41464" y="174650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Service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130552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Laporan, status, bukti, dan analisis NLP.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report_db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397764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4160520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41464" y="412394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Service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4507992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Registrasi, assessment, intervensi, dan terminasi.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case_db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326880" y="251460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46920" y="2761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31272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broker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9680" y="2377440"/>
            <a:ext cx="457200" cy="411480"/>
          </a:xfrm>
          <a:prstGeom prst="line">
            <a:avLst/>
          </a:prstGeom>
          <a:noFill/>
          <a:ln w="19050">
            <a:solidFill>
              <a:srgbClr val="F2C14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69680" y="4572000"/>
            <a:ext cx="457200" cy="-1234440"/>
          </a:xfrm>
          <a:prstGeom prst="line">
            <a:avLst/>
          </a:prstGeom>
          <a:noFill/>
          <a:ln w="19050">
            <a:solidFill>
              <a:srgbClr val="F2C14E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 DOSEN • NLP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membantu pelapor mengisi formulir tanpa kehilangan kontrol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64592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3852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Cerita bebas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130552"/>
            <a:ext cx="50292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1828800"/>
            <a:ext cx="1645920" cy="603504"/>
          </a:xfrm>
          <a:prstGeom prst="roundRect">
            <a:avLst>
              <a:gd name="adj" fmla="val 12121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36392" y="193852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bahasa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130552"/>
            <a:ext cx="50292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03520" y="1828800"/>
            <a:ext cx="1645920" cy="603504"/>
          </a:xfrm>
          <a:prstGeom prst="roundRect">
            <a:avLst>
              <a:gd name="adj" fmla="val 12121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76672" y="193852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aturan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2130552"/>
            <a:ext cx="50292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1828800"/>
            <a:ext cx="164592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16952" y="193852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Usulan formulir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30552"/>
            <a:ext cx="50292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84080" y="1828800"/>
            <a:ext cx="1645920" cy="603504"/>
          </a:xfrm>
          <a:prstGeom prst="roundRect">
            <a:avLst>
              <a:gd name="adj" fmla="val 12121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57232" y="193852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Koreksi pelapor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06324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3246120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26464" y="3209544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Informasi yang dapat diusulkan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593592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korban • usia • jenis kelamin • hubungan pelapor • jenis kekerasan • lokasi • waktu kejadian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06324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246120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84264" y="3209544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 keamanan data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3593592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NLP hanya usulan. Pelapor memeriksa dan memperbaiki data sebelum menjadi laporan resmi.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828800" y="516636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2304A"/>
          </a:solidFill>
          <a:ln w="12700">
            <a:solidFill>
              <a:srgbClr val="12304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11680" y="5349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Cerita → Analisis → Validasi → Verifikasi → Submit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 DOSEN • MESSAGE BROKER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RabbitMQ membuat perubahan status tidak bergantung pada request langsung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22402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258568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2450592"/>
            <a:ext cx="8686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2148840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87952" y="225856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kasus_status_updates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2450592"/>
            <a:ext cx="8686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63840" y="2148840"/>
            <a:ext cx="2423160" cy="603504"/>
          </a:xfrm>
          <a:prstGeom prst="roundRect">
            <a:avLst>
              <a:gd name="adj" fmla="val 12121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36992" y="225856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perubahan 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886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40873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Registrasi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087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proses_assessment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886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40873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Intervensi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4087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dalam_penanganan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21040" y="3886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0" y="40873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Terminasi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4087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selesai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5349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Komunikasi asynchronous • queue durable • pesan persistent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V • IMPLEMENTASI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sistem menerjemahkan rancangan menjadi tiga pengalaman pengguna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920240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9304" y="188366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67712"/>
            <a:ext cx="3063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cerita kejadian, bantuan NLP, pengiriman laporan, upload bukti, dan cek status.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920240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88366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Admin/Petugas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67712"/>
            <a:ext cx="3063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laporan, registrasi, assessment, rencana intervensi, monitoring, dan terminasi.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7373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5592" y="1920240"/>
            <a:ext cx="256032" cy="25603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13064" y="188366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267712"/>
            <a:ext cx="3063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statistik, manajemen petugas, data master, pusat kendali, dan ekspor data.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implementasi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70916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473659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470916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85032" y="473659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470916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473659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89720" y="470916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62872" y="473659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V • PENGUJIAN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Pengujian dirancang untuk mengukur kecepatan, ketahanan, dan penerimaan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• 500 • 1.000 pengguna virtual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94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 • throughput • error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44568" y="18288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INJECTION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Service dihentikan sementara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3794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Amati queue sebelum dan sesudah recovery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11896" y="1828800"/>
            <a:ext cx="32461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0496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540496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pelapor • 3 admin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540496" y="3794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Likert dan indeks penerimaan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• LOAD TESTING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unggul pada sebagian besar endpoint yang diuji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response time pada 1.000 pengguna virtual (ms)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828800"/>
          <a:ext cx="6492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9659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27848" y="2103120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927848" y="260604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microservices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18120" y="324612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DE9E4"/>
          </a:solidFill>
          <a:ln w="12700">
            <a:solidFill>
              <a:srgbClr val="FDE9E4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7848" y="3383280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0,10%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7927848" y="388620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monolitik pada Submit Laporan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4663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hasil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983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lebih cepat pada Login, Submit Laporan, dan Master Kekerasan. Monolitik lebih cepat pada Get Penanganan.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• 1.000 PENGGUNA VIRTUAL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Pada beban tertinggi, microservices tetap memproses seluruh permintaan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8745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77440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 virtual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1874520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37744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microservices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DE9E4"/>
          </a:solidFill>
          <a:ln w="12700">
            <a:solidFill>
              <a:srgbClr val="FDE9E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0488" y="1874520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0,10%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190488" y="237744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monolitik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78240" y="17373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87968" y="18745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887968" y="2377440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inti diuji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24612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cepat pada microservices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Login: 1,53% lebih rendah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2611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Laporan: 99,77% lebih rendah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72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Kekerasan: 97,36% lebih rendah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24612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interpretasi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9502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Monolitik lebih cepat pada Get Penanganan. Hasil berlaku pada konfigurasi dan skenario pengujian yang digunakan.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• RABBITMQ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injection menunjukkan pesan dapat menunggu saat consumer berhenti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28800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FDE9E4"/>
          </a:solidFill>
          <a:ln w="12700">
            <a:solidFill>
              <a:srgbClr val="FDE9E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193852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Service OFF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2130552"/>
            <a:ext cx="105156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18288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70832" y="19385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 Queue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130552"/>
            <a:ext cx="105156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55280" y="1828800"/>
            <a:ext cx="2286000" cy="603504"/>
          </a:xfrm>
          <a:prstGeom prst="roundRect">
            <a:avLst>
              <a:gd name="adj" fmla="val 12121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28432" y="19385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Service 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3246120"/>
            <a:ext cx="2926080" cy="45720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01952" y="3355848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246120"/>
            <a:ext cx="960120" cy="45720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3355848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15000" y="3246120"/>
            <a:ext cx="960120" cy="45720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88152" y="3355848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Unacked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246120"/>
            <a:ext cx="960120" cy="45720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3355848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0" y="3703320"/>
            <a:ext cx="2926080" cy="502920"/>
          </a:xfrm>
          <a:prstGeom prst="rect">
            <a:avLst/>
          </a:prstGeom>
          <a:solidFill>
            <a:srgbClr val="FDE9E4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01952" y="383133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setelah dua pengiriman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703320"/>
            <a:ext cx="960120" cy="502920"/>
          </a:xfrm>
          <a:prstGeom prst="rect">
            <a:avLst/>
          </a:prstGeom>
          <a:solidFill>
            <a:srgbClr val="FDE9E4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3831336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15000" y="3703320"/>
            <a:ext cx="960120" cy="502920"/>
          </a:xfrm>
          <a:prstGeom prst="rect">
            <a:avLst/>
          </a:prstGeom>
          <a:solidFill>
            <a:srgbClr val="FDE9E4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88152" y="3831336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3703320"/>
            <a:ext cx="960120" cy="502920"/>
          </a:xfrm>
          <a:prstGeom prst="rect">
            <a:avLst/>
          </a:prstGeom>
          <a:solidFill>
            <a:srgbClr val="FDE9E4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48272" y="3831336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800" y="4206240"/>
            <a:ext cx="2926080" cy="502920"/>
          </a:xfrm>
          <a:prstGeom prst="rect">
            <a:avLst/>
          </a:prstGeom>
          <a:solidFill>
            <a:srgbClr val="E7F6F0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01952" y="433425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kembali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4206240"/>
            <a:ext cx="960120" cy="502920"/>
          </a:xfrm>
          <a:prstGeom prst="rect">
            <a:avLst/>
          </a:prstGeom>
          <a:solidFill>
            <a:srgbClr val="E7F6F0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28032" y="4334256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5000" y="4206240"/>
            <a:ext cx="960120" cy="502920"/>
          </a:xfrm>
          <a:prstGeom prst="rect">
            <a:avLst/>
          </a:prstGeom>
          <a:solidFill>
            <a:srgbClr val="E7F6F0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88152" y="4334256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4206240"/>
            <a:ext cx="960120" cy="502920"/>
          </a:xfrm>
          <a:prstGeom prst="rect">
            <a:avLst/>
          </a:prstGeom>
          <a:solidFill>
            <a:srgbClr val="E7F6F0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48272" y="4334256"/>
            <a:ext cx="81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5166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pesan tertampung saat Report Service berhenti dan queue kembali kosong setelah service aktif.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• USER ACCEPTANCE TESTING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Pengguna menilai sistem dapat digunakan dan diterima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965960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80,87%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68880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 UAT pelapor • 25 responden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03720" y="182880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13448" y="1965960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88,21%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013448" y="2468880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 UAT admin • 3 responden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Aspek yang dinilai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160520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4187952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Fungsionalitas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4160520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13632" y="4187952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Kemudahan penggunaan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754880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782312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Keandalan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4754880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13632" y="4782312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Kelayakan implementasi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365760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NLP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31596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Pernyataan pengisian otomatis memperoleh nilai relatif lebih rendah, sehingga masih perlu evaluasi lanjutan.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TINDAK LANJUT REVISI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revisi dosen telah masuk ke sistem dan laporan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sistem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7472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lama, alur usulan, dan alur pelaporan sampai terminasi diperjelas.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diterapkan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9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RabbitMQ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47472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broker, queue, producer-consumer, dan fault injection ditambahkan.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diterapkan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82880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5F9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4108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9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47472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Cerita bebas dianalisis untuk membantu pengisian formulir sebelum submit.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diterapkan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F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berhasil menjawab kebutuhan pelaporan dan penanganan kasus secara terintegrasi.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7432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berhasil dikembangkan menggunakan RUP.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1821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Service dan Case Service berhasil dipisahkan.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210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 berhasil digunakan untuk komunikasi asynchronous.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059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unggul pada sebagian besar endpoint yang diuji.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988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pelapor 80,87% dan admin 88,21%.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937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membantu pengisian awal formulir dan tetap diverifikasi pelapor.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0" y="205740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1B4965"/>
          </a:solidFill>
          <a:ln w="12700">
            <a:solidFill>
              <a:srgbClr val="1B496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64040" y="248716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F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9464040" y="32735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8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VI • SARAN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 menjadi dasar pengembangan berikutnya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25400">
            <a:solidFill>
              <a:srgbClr val="D9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920240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9304" y="188366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NLP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67712"/>
            <a:ext cx="3063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pengukuran precision, recall, dan F1-score pada dataset berlabel.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920240"/>
            <a:ext cx="256032" cy="25603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88366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Reliabilitas pesan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67712"/>
            <a:ext cx="3063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injection belum mencakup gangguan RabbitMQ dan jaringan.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7373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5592" y="1920240"/>
            <a:ext cx="256032" cy="25603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13064" y="188366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267712"/>
            <a:ext cx="30632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dan Get Penanganan masih perlu optimasi query, indeks, dan pagination.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pengembangan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4572000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7365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Perkuat validasi backend dan kontrol status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572000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BFE8E1"/>
          </a:solidFill>
          <a:ln w="12700">
            <a:solidFill>
              <a:srgbClr val="BFE8E1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47365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Tambahkan outbox, retry, dan publisher confirmation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75320" y="4572000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0" y="47365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Ulangi pengujian dengan konfigurasi resource yang lebih terkontrol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8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BF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 Tanya Jawab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7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DPPPA Kota Kendari • Microservices • RabbitMQ • NLP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1B4965"/>
          </a:solidFill>
          <a:ln w="12700">
            <a:solidFill>
              <a:srgbClr val="1B496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169164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82712" y="18013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Pelaporan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09560" y="237744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82712" y="24871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09560" y="306324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82712" y="31729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09560" y="374904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D9F0F2"/>
          </a:solidFill>
          <a:ln w="12700">
            <a:solidFill>
              <a:srgbClr val="D9F0F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82712" y="38587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Kasus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5760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7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Muh. Afdal Ziqri Ramadhan  •  E1E122065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8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SIPEKA • Seminar Hasil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Universitas Halu Oleo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SIPEKA - Sistem Pelaporan dan Manajemen Kasus</dc:title>
  <dc:subject>Seminar Hasil SIPEKA</dc:subject>
  <dc:creator>Muh. Afdal Ziqri Ramadhan</dc:creator>
  <cp:lastModifiedBy>Muh. Afdal Ziqri Ramadhan</cp:lastModifiedBy>
  <cp:revision>1</cp:revision>
  <dcterms:created xsi:type="dcterms:W3CDTF">2026-09-27T03:39:23Z</dcterms:created>
  <dcterms:modified xsi:type="dcterms:W3CDTF">2026-09-27T03:39:23Z</dcterms:modified>
</cp:coreProperties>
</file>